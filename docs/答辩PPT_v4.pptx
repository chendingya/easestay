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4" d="100"/>
          <a:sy n="124" d="100"/>
        </p:scale>
        <p:origin x="1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91138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3A40"/>
          </a:solidFill>
          <a:ln w="12700">
            <a:solidFill>
              <a:srgbClr val="013A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194560"/>
            <a:ext cx="1054577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</a:rPr>
              <a:t>易宿酒店预订平台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822960" y="3291840"/>
            <a:ext cx="105457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D7F4F1"/>
                </a:solidFill>
              </a:rPr>
              <a:t>答辩PPT · 业务、架构与实现综述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22960" y="4754880"/>
            <a:ext cx="4206240" cy="548640"/>
          </a:xfrm>
          <a:prstGeom prst="round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48463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移动端 · 管理端 · 服务端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7"/>
          </a:solidFill>
          <a:ln w="12700">
            <a:solidFill>
              <a:srgbClr val="F5F7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F2D2E"/>
                </a:solidFill>
              </a:rPr>
              <a:t>目录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14630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2D2E"/>
                </a:solidFill>
              </a:rPr>
              <a:t>01  项目概述与目标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1031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2D2E"/>
                </a:solidFill>
              </a:rPr>
              <a:t>02  角色与业务范围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2D2E"/>
                </a:solidFill>
              </a:rPr>
              <a:t>03  核心功能拆分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33832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2D2E"/>
                </a:solidFill>
              </a:rPr>
              <a:t>04  关键业务流程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40233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2D2E"/>
                </a:solidFill>
              </a:rPr>
              <a:t>05  技术架构与数据模型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46634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2D2E"/>
                </a:solidFill>
              </a:rPr>
              <a:t>06  工程规范与质量保障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53035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2D2E"/>
                </a:solidFill>
              </a:rPr>
              <a:t>07  总结与下一步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7"/>
          </a:solidFill>
          <a:ln w="12700">
            <a:solidFill>
              <a:srgbClr val="F5F7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11480"/>
            <a:ext cx="109728" cy="548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365760"/>
            <a:ext cx="108200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D2E"/>
                </a:solidFill>
              </a:rPr>
              <a:t>项目概述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1280160"/>
            <a:ext cx="6035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D2E"/>
                </a:solidFill>
              </a:rPr>
              <a:t>易宿酒店预订平台连接商户与用户，提供酒店发布、审核、搜索、预订与订单管理的一体化系统。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2377440"/>
            <a:ext cx="347472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8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5603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D2E"/>
                </a:solidFill>
              </a:rPr>
              <a:t>业务目标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3017520"/>
            <a:ext cx="29260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6B6B"/>
                </a:solidFill>
              </a:rPr>
              <a:t>商户可在 PC 端发布房源，管理员完成审核；用户在移动端完成搜索、筛选、下单与支付。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80560" y="2377440"/>
            <a:ext cx="347472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8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25603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D2E"/>
                </a:solidFill>
              </a:rPr>
              <a:t>覆盖范围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754880" y="3017520"/>
            <a:ext cx="29260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6B6B"/>
                </a:solidFill>
              </a:rPr>
              <a:t>酒店信息管理、审核流程、订单创建、模拟支付、消息通知、收藏管理、预设数据与申请流程。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38160" y="2377440"/>
            <a:ext cx="347472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8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0" y="25603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D2E"/>
                </a:solidFill>
              </a:rPr>
              <a:t>范围外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412480" y="3017520"/>
            <a:ext cx="29260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6B6B"/>
                </a:solidFill>
              </a:rPr>
              <a:t>不接真实支付、退款售后、会员体系、点评系统，确保系统聚焦核心闭环。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2960" y="5577840"/>
            <a:ext cx="109728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8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566928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B6B"/>
                </a:solidFill>
              </a:rPr>
              <a:t>得分点体现：功能完成度覆盖“发布-审核-查询-下单-支付-通知”完整闭环。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11480"/>
            <a:ext cx="109728" cy="548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365760"/>
            <a:ext cx="108200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D2E"/>
                </a:solidFill>
              </a:rPr>
              <a:t>角色与业务范围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34747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8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6459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D2E"/>
                </a:solidFill>
              </a:rPr>
              <a:t>C 端用户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210312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6B6B"/>
                </a:solidFill>
              </a:rPr>
              <a:t>移动端查询、筛选、浏览酒店与房型，完成下单与支付。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89120" y="1463040"/>
            <a:ext cx="34747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8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0" y="16459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D2E"/>
                </a:solidFill>
              </a:rPr>
              <a:t>商户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63440" y="210312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6B6B"/>
                </a:solidFill>
              </a:rPr>
              <a:t>PC 端录入酒店信息、房型与优惠，提交审核与运营管理。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463040"/>
            <a:ext cx="34747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8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21040" y="16459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D2E"/>
                </a:solidFill>
              </a:rPr>
              <a:t>管理员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321040" y="210312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6B6B"/>
                </a:solidFill>
              </a:rPr>
              <a:t>审核酒店上架/下架、管理商户与申请审核、维护平台秩序。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39319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D2E"/>
                </a:solidFill>
              </a:rPr>
              <a:t>业务范围与边界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31520" y="43891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B6B"/>
                </a:solidFill>
              </a:rPr>
              <a:t>覆盖酒店信息管理、审核流程、搜索展示、订单支付与消息通知；不覆盖真实支付接入、退款售后、会员体系与点评系统。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F5F7F7"/>
          </a:solidFill>
          <a:ln w="12700">
            <a:solidFill>
              <a:srgbClr val="F5F7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11480"/>
            <a:ext cx="109728" cy="548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365760"/>
            <a:ext cx="108200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D2E"/>
                </a:solidFill>
              </a:rPr>
              <a:t>核心功能拆分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4662204" cy="420253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8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6459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D2E"/>
                </a:solidFill>
              </a:rPr>
              <a:t>移动端（用户侧）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2194560"/>
            <a:ext cx="475488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B6B"/>
                </a:solidFill>
              </a:rPr>
              <a:t>首页查询与 Banner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C6B6B"/>
                </a:solidFill>
              </a:rPr>
              <a:t>酒店列表筛选/排序/无限滚动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C6B6B"/>
                </a:solidFill>
              </a:rPr>
              <a:t>酒店详情与房型预订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C6B6B"/>
                </a:solidFill>
              </a:rPr>
              <a:t>订单列表与支付链路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C6B6B"/>
                </a:solidFill>
              </a:rPr>
              <a:t>收藏与个人中心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852160" y="1371599"/>
            <a:ext cx="4363171" cy="420253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8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16459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D2E"/>
                </a:solidFill>
              </a:rPr>
              <a:t>PC 管理端（商户/管理员）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309360" y="2194560"/>
            <a:ext cx="475488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B6B"/>
                </a:solidFill>
              </a:rPr>
              <a:t>酒店录入与编辑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C6B6B"/>
                </a:solidFill>
              </a:rPr>
              <a:t>审核流转与上下架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C6B6B"/>
                </a:solidFill>
              </a:rPr>
              <a:t>工作台统计与批量操作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C6B6B"/>
                </a:solidFill>
              </a:rPr>
              <a:t>消息中心与账户管理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C6B6B"/>
                </a:solidFill>
              </a:rPr>
              <a:t>预设数据与申请审核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5868224"/>
            <a:ext cx="1069848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8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5933715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B6B"/>
                </a:solidFill>
              </a:rPr>
              <a:t>得分点体现：功能完成度（移动端+管理端全链路）；用户体验（统一卡片与交互反馈）。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11480"/>
            <a:ext cx="109728" cy="548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365760"/>
            <a:ext cx="108200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D2E"/>
                </a:solidFill>
              </a:rPr>
              <a:t>关键业务流程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1737360" cy="914400"/>
          </a:xfrm>
          <a:prstGeom prst="roundRect">
            <a:avLst/>
          </a:prstGeom>
          <a:solidFill>
            <a:srgbClr val="F5F7F7"/>
          </a:solidFill>
          <a:ln w="12700">
            <a:solidFill>
              <a:srgbClr val="D7E2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33172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D2E"/>
                </a:solidFill>
              </a:rPr>
              <a:t>商户录入酒店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86000" y="2651760"/>
            <a:ext cx="27432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468880" y="2194560"/>
            <a:ext cx="1737360" cy="914400"/>
          </a:xfrm>
          <a:prstGeom prst="roundRect">
            <a:avLst/>
          </a:prstGeom>
          <a:solidFill>
            <a:srgbClr val="F5F7F7"/>
          </a:solidFill>
          <a:ln w="12700">
            <a:solidFill>
              <a:srgbClr val="D7E2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0" y="233172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D2E"/>
                </a:solidFill>
              </a:rPr>
              <a:t>提交审核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06240" y="2651760"/>
            <a:ext cx="27432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389120" y="2194560"/>
            <a:ext cx="1737360" cy="914400"/>
          </a:xfrm>
          <a:prstGeom prst="roundRect">
            <a:avLst/>
          </a:prstGeom>
          <a:solidFill>
            <a:srgbClr val="F5F7F7"/>
          </a:solidFill>
          <a:ln w="12700">
            <a:solidFill>
              <a:srgbClr val="D7E2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80560" y="233172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D2E"/>
                </a:solidFill>
              </a:rPr>
              <a:t>管理员审核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2651760"/>
            <a:ext cx="27432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309360" y="2194560"/>
            <a:ext cx="1737360" cy="914400"/>
          </a:xfrm>
          <a:prstGeom prst="roundRect">
            <a:avLst/>
          </a:prstGeom>
          <a:solidFill>
            <a:srgbClr val="F5F7F7"/>
          </a:solidFill>
          <a:ln w="12700">
            <a:solidFill>
              <a:srgbClr val="D7E2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233172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D2E"/>
                </a:solidFill>
              </a:rPr>
              <a:t>用户浏览下单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46720" y="2651760"/>
            <a:ext cx="27432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229600" y="2194560"/>
            <a:ext cx="1737360" cy="914400"/>
          </a:xfrm>
          <a:prstGeom prst="roundRect">
            <a:avLst/>
          </a:prstGeom>
          <a:solidFill>
            <a:srgbClr val="F5F7F7"/>
          </a:solidFill>
          <a:ln w="12700">
            <a:solidFill>
              <a:srgbClr val="D7E2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21040" y="233172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D2E"/>
                </a:solidFill>
              </a:rPr>
              <a:t>订单支付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966960" y="2651760"/>
            <a:ext cx="27432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0149840" y="2194560"/>
            <a:ext cx="1737360" cy="914400"/>
          </a:xfrm>
          <a:prstGeom prst="roundRect">
            <a:avLst/>
          </a:prstGeom>
          <a:solidFill>
            <a:srgbClr val="F5F7F7"/>
          </a:solidFill>
          <a:ln w="12700">
            <a:solidFill>
              <a:srgbClr val="D7E2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241280" y="233172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D2E"/>
                </a:solidFill>
              </a:rPr>
              <a:t>状态流转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1520" y="39319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B6B"/>
                </a:solidFill>
              </a:rPr>
              <a:t>状态规则：pending → approved/rejected/offline，订单状态：pending_payment → confirmed → finished/cancelled。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31520" y="4572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B6B"/>
                </a:solidFill>
              </a:rPr>
              <a:t>得分点体现：流程完整性与状态约束，支撑功能完成度评分。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7"/>
          </a:solidFill>
          <a:ln w="12700">
            <a:solidFill>
              <a:srgbClr val="F5F7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11480"/>
            <a:ext cx="109728" cy="548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365760"/>
            <a:ext cx="108200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D2E"/>
                </a:solidFill>
              </a:rPr>
              <a:t>技术架构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33832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8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6459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D2E"/>
                </a:solidFill>
              </a:rPr>
              <a:t>前端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2103120"/>
            <a:ext cx="28346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6B6B"/>
                </a:solidFill>
              </a:rPr>
              <a:t>移动端：Taro + React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C6B6B"/>
                </a:solidFill>
              </a:rPr>
              <a:t>管理端：React + Vite + Ant Design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89120" y="1463040"/>
            <a:ext cx="33832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8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0" y="16459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D2E"/>
                </a:solidFill>
              </a:rPr>
              <a:t>后端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63440" y="2103120"/>
            <a:ext cx="28346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6B6B"/>
                </a:solidFill>
              </a:rPr>
              <a:t>Node.js + Express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C6B6B"/>
                </a:solidFill>
              </a:rPr>
              <a:t>RESTful API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C6B6B"/>
                </a:solidFill>
              </a:rPr>
              <a:t>JWT 认证与角色鉴权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463040"/>
            <a:ext cx="33832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8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21040" y="16459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D2E"/>
                </a:solidFill>
              </a:rPr>
              <a:t>数据层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321040" y="2103120"/>
            <a:ext cx="28346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6B6B"/>
                </a:solidFill>
              </a:rPr>
              <a:t>Supabase（PostgreSQL）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C6B6B"/>
                </a:solidFill>
              </a:rPr>
              <a:t>地图服务（POI/地址解析）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423160" y="4023360"/>
            <a:ext cx="283464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080760" y="4023360"/>
            <a:ext cx="283464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822960" y="43891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B6B"/>
                </a:solidFill>
              </a:rPr>
              <a:t>移动端与管理端统一走 API 网关，服务层负责库存、审核、通知与状态流转。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5120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B6B"/>
                </a:solidFill>
              </a:rPr>
              <a:t>得分点体现：前后端分离 + 鉴权 + 网关规则，体现技术复杂度。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11480"/>
            <a:ext cx="109728" cy="548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365760"/>
            <a:ext cx="108200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D2E"/>
                </a:solidFill>
              </a:rPr>
              <a:t>核心数据模型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347472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8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7373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D2E"/>
                </a:solidFill>
              </a:rPr>
              <a:t>User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219456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6B6B"/>
                </a:solidFill>
              </a:rPr>
              <a:t>角色、账号、认证信息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0" y="1554480"/>
            <a:ext cx="347472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8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7373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D2E"/>
                </a:solidFill>
              </a:rPr>
              <a:t>Hotel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46320" y="219456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6B6B"/>
                </a:solidFill>
              </a:rPr>
              <a:t>酒店信息、设施、图片、状态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412480" y="1554480"/>
            <a:ext cx="347472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8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0" y="17373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D2E"/>
                </a:solidFill>
              </a:rPr>
              <a:t>RoomType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686800" y="219456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6B6B"/>
                </a:solidFill>
              </a:rPr>
              <a:t>房型价格、库存、折扣、图片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" y="3840480"/>
            <a:ext cx="347472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8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40233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D2E"/>
                </a:solidFill>
              </a:rPr>
              <a:t>Order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05840" y="448056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6B6B"/>
                </a:solidFill>
              </a:rPr>
              <a:t>订单号、价格、入住日期、状态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0" y="3840480"/>
            <a:ext cx="347472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8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40233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D2E"/>
                </a:solidFill>
              </a:rPr>
              <a:t>Request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846320" y="448056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6B6B"/>
                </a:solidFill>
              </a:rPr>
              <a:t>设施/房型/优惠/下架申请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412480" y="3840480"/>
            <a:ext cx="347472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8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0" y="40233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D2E"/>
                </a:solidFill>
              </a:rPr>
              <a:t>Notification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686800" y="448056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6B6B"/>
                </a:solidFill>
              </a:rPr>
              <a:t>消息通知与阅读状态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7"/>
          </a:solidFill>
          <a:ln w="12700">
            <a:solidFill>
              <a:srgbClr val="F5F7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11480"/>
            <a:ext cx="109728" cy="548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365760"/>
            <a:ext cx="108200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D2E"/>
                </a:solidFill>
              </a:rPr>
              <a:t>API 设计要点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5669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8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828800"/>
            <a:ext cx="49377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C6B6B"/>
                </a:solidFill>
              </a:rPr>
              <a:t>• RESTful + JSON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C6B6B"/>
                </a:solidFill>
              </a:rPr>
              <a:t>• 认证：Bearer Token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C6B6B"/>
                </a:solidFill>
              </a:rPr>
              <a:t>• 分页：page/pageSize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C6B6B"/>
                </a:solidFill>
              </a:rPr>
              <a:t>• 兼容旧结构与分页结构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C6B6B"/>
                </a:solidFill>
              </a:rPr>
              <a:t>• 搜索排序规则明确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C6B6B"/>
                </a:solidFill>
              </a:rPr>
              <a:t>• 订单状态与酒店状态强约束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766560" y="1463040"/>
            <a:ext cx="466344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8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40880" y="16459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D2E"/>
                </a:solidFill>
              </a:rPr>
              <a:t>示例接口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040880" y="210312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6B6B"/>
                </a:solidFill>
              </a:rPr>
              <a:t>GET /api/hotels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C6B6B"/>
                </a:solidFill>
              </a:rPr>
              <a:t>POST /api/hotels/:id/orders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C6B6B"/>
                </a:solidFill>
              </a:rPr>
              <a:t>PATCH /api/admin/hotels/:id/status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766560" y="3383280"/>
            <a:ext cx="466344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8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0" y="35661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D2E"/>
                </a:solidFill>
              </a:rPr>
              <a:t>关键规则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40880" y="4023360"/>
            <a:ext cx="41148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6B6B"/>
                </a:solidFill>
              </a:rPr>
              <a:t>仅 approved 酒店可展示；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C6B6B"/>
                </a:solidFill>
              </a:rPr>
              <a:t>下单必须登录并校验入住日期；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C6B6B"/>
                </a:solidFill>
              </a:rPr>
              <a:t>支付仅对 pending_payment 生效。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11480"/>
            <a:ext cx="109728" cy="548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365760"/>
            <a:ext cx="108200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D2E"/>
                </a:solidFill>
              </a:rPr>
              <a:t>工程规范与质量保障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34747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8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6459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D2E"/>
                </a:solidFill>
              </a:rPr>
              <a:t>国际化体系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2103120"/>
            <a:ext cx="29260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6B6B"/>
                </a:solidFill>
              </a:rPr>
              <a:t>namespace 拆分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C6B6B"/>
                </a:solidFill>
              </a:rPr>
              <a:t>路由级懒加载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C6B6B"/>
                </a:solidFill>
              </a:rPr>
              <a:t>双门禁校验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C6B6B"/>
                </a:solidFill>
              </a:rPr>
              <a:t>占位符参数一致性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89120" y="1463040"/>
            <a:ext cx="34747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8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0" y="16459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D2E"/>
                </a:solidFill>
              </a:rPr>
              <a:t>性能优化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63440" y="2103120"/>
            <a:ext cx="29260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6B6B"/>
                </a:solidFill>
              </a:rPr>
              <a:t>首屏按需加载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C6B6B"/>
                </a:solidFill>
              </a:rPr>
              <a:t>重组件下沉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C6B6B"/>
                </a:solidFill>
              </a:rPr>
              <a:t>分页与延迟渲染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C6B6B"/>
                </a:solidFill>
              </a:rPr>
              <a:t>优化台账沉淀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463040"/>
            <a:ext cx="34747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8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21040" y="16459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D2E"/>
                </a:solidFill>
              </a:rPr>
              <a:t>测试策略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321040" y="2103120"/>
            <a:ext cx="29260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6B6B"/>
                </a:solidFill>
              </a:rPr>
              <a:t>Admin: vitest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C6B6B"/>
                </a:solidFill>
              </a:rPr>
              <a:t>Server: jest + supertest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C6B6B"/>
                </a:solidFill>
              </a:rPr>
              <a:t>Mock 外部依赖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C6B6B"/>
                </a:solidFill>
              </a:rPr>
              <a:t>覆盖认证/申请/通知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60350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B6B"/>
                </a:solidFill>
              </a:rPr>
              <a:t>得分点体现：工程规范 + 测试策略，支撑代码质量评分。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7"/>
          </a:solidFill>
          <a:ln w="12700">
            <a:solidFill>
              <a:srgbClr val="F5F7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11480"/>
            <a:ext cx="109728" cy="548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365760"/>
            <a:ext cx="108200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D2E"/>
                </a:solidFill>
              </a:rPr>
              <a:t>非功能要求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057400" y="1645920"/>
            <a:ext cx="1005840" cy="100584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57400" y="187452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安全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2834640"/>
            <a:ext cx="338328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8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30175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D2E"/>
                </a:solidFill>
              </a:rPr>
              <a:t>安全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3474720"/>
            <a:ext cx="28346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6B6B"/>
                </a:solidFill>
              </a:rPr>
              <a:t>JWT 认证、角色鉴权、敏感操作校验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852160" y="1645920"/>
            <a:ext cx="1005840" cy="100584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52160" y="187452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性能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617720" y="2834640"/>
            <a:ext cx="338328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8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30175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D2E"/>
                </a:solidFill>
              </a:rPr>
              <a:t>性能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92040" y="3474720"/>
            <a:ext cx="28346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6B6B"/>
                </a:solidFill>
              </a:rPr>
              <a:t>路由级拆分、服务端分页、增量渲染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646920" y="1645920"/>
            <a:ext cx="1005840" cy="100584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46920" y="187452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可维护性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412480" y="2834640"/>
            <a:ext cx="338328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8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0" y="30175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D2E"/>
                </a:solidFill>
              </a:rPr>
              <a:t>可维护性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686800" y="3474720"/>
            <a:ext cx="28346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6B6B"/>
                </a:solidFill>
              </a:rPr>
              <a:t>分层架构、词典分域、统一复用规范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2960" y="58521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B6B"/>
                </a:solidFill>
              </a:rPr>
              <a:t>得分点体现：性能与可维护性要求，支撑技术复杂度与用户体验评分。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3A40"/>
          </a:solidFill>
          <a:ln w="12700">
            <a:solidFill>
              <a:srgbClr val="013A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7315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总结与下一步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10789920" cy="4389120"/>
          </a:xfrm>
          <a:prstGeom prst="roundRect">
            <a:avLst/>
          </a:prstGeom>
          <a:solidFill>
            <a:srgbClr val="0A4B52"/>
          </a:solidFill>
          <a:ln w="12700">
            <a:solidFill>
              <a:srgbClr val="0A4B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88720" y="2286000"/>
            <a:ext cx="100584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D7F4F1"/>
                </a:solidFill>
              </a:rPr>
              <a:t>Phase 2：拆分 audit/requests/merchants 等 namespace，完善路由映射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D7F4F1"/>
                </a:solidFill>
              </a:rPr>
              <a:t>Phase 2：引入伪本地化回归，提前发现文案溢出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D7F4F1"/>
                </a:solidFill>
              </a:rPr>
              <a:t>Phase 3：错误码体系标准化并接入 i18n 映射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D7F4F1"/>
                </a:solidFill>
              </a:rPr>
              <a:t>Phase 3：建立 locale 同源映射（i18n / Antd / Dayjs）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5394960"/>
            <a:ext cx="6949440" cy="548640"/>
          </a:xfrm>
          <a:prstGeom prst="round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548640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得分点体现：i18n 门禁与性能台账，支撑项目创新性。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59436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</a:rPr>
              <a:t>感谢聆听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 Ligh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495</Words>
  <Application>Microsoft Office PowerPoint</Application>
  <PresentationFormat>宽屏</PresentationFormat>
  <Paragraphs>140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4" baseType="lpstr"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易宿酒店预订平台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易宿酒店预订平台答辩</dc:title>
  <dc:subject>答辩PPT</dc:subject>
  <dc:creator>易宿酒店预订平台</dc:creator>
  <cp:lastModifiedBy>鼎亚 陈</cp:lastModifiedBy>
  <cp:revision>2</cp:revision>
  <dcterms:created xsi:type="dcterms:W3CDTF">2026-02-23T09:16:48Z</dcterms:created>
  <dcterms:modified xsi:type="dcterms:W3CDTF">2026-02-23T09:33:46Z</dcterms:modified>
</cp:coreProperties>
</file>